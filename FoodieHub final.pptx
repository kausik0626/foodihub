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8229600" cx="14630400"/>
  <p:notesSz cx="8229600" cy="14630400"/>
  <p:embeddedFontLst>
    <p:embeddedFont>
      <p:font typeface="Inter"/>
      <p:bold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Inter-bold.fntdata"/><Relationship Id="rId14" Type="http://schemas.openxmlformats.org/officeDocument/2006/relationships/slide" Target="slides/slide10.xml"/><Relationship Id="rId16" Type="http://schemas.openxmlformats.org/officeDocument/2006/relationships/font" Target="fonts/Inter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" name="Google Shape;4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" name="Google Shape;6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0" name="Google Shape;22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0 master">
  <p:cSld name="Slide 10 master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8.png"/><Relationship Id="rId4" Type="http://schemas.openxmlformats.org/officeDocument/2006/relationships/image" Target="../media/image16.png"/><Relationship Id="rId5" Type="http://schemas.openxmlformats.org/officeDocument/2006/relationships/image" Target="../media/image15.png"/><Relationship Id="rId6" Type="http://schemas.openxmlformats.org/officeDocument/2006/relationships/image" Target="../media/image10.png"/><Relationship Id="rId7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6" name="Google Shape;4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13"/>
          <p:cNvSpPr/>
          <p:nvPr/>
        </p:nvSpPr>
        <p:spPr>
          <a:xfrm>
            <a:off x="6280190" y="2514362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50"/>
              <a:buFont typeface="Inter"/>
              <a:buNone/>
            </a:pPr>
            <a:r>
              <a:rPr b="1" i="0" lang="en-US" sz="44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FoodieHub</a:t>
            </a:r>
            <a:endParaRPr b="0" i="0" sz="4450" u="none" cap="none" strike="noStrike"/>
          </a:p>
        </p:txBody>
      </p:sp>
      <p:sp>
        <p:nvSpPr>
          <p:cNvPr id="48" name="Google Shape;48;p13"/>
          <p:cNvSpPr/>
          <p:nvPr/>
        </p:nvSpPr>
        <p:spPr>
          <a:xfrm>
            <a:off x="6280190" y="3313867"/>
            <a:ext cx="463355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Inter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An Online Food Ordering Platform</a:t>
            </a:r>
            <a:endParaRPr b="0" i="0" sz="2200" u="none" cap="none" strike="noStrike"/>
          </a:p>
        </p:txBody>
      </p:sp>
      <p:sp>
        <p:nvSpPr>
          <p:cNvPr id="49" name="Google Shape;49;p13"/>
          <p:cNvSpPr/>
          <p:nvPr/>
        </p:nvSpPr>
        <p:spPr>
          <a:xfrm>
            <a:off x="6280190" y="4008358"/>
            <a:ext cx="75564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Industry-Oriented Hands-on Experience (CS253)</a:t>
            </a:r>
            <a:endParaRPr b="0" i="0" sz="1750" u="none" cap="none" strike="noStrike"/>
          </a:p>
        </p:txBody>
      </p:sp>
      <p:sp>
        <p:nvSpPr>
          <p:cNvPr id="50" name="Google Shape;50;p13"/>
          <p:cNvSpPr/>
          <p:nvPr/>
        </p:nvSpPr>
        <p:spPr>
          <a:xfrm>
            <a:off x="6280190" y="4626412"/>
            <a:ext cx="7556421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b="1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Presented by</a:t>
            </a: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: Kausik Kumar Sahoo</a:t>
            </a:r>
            <a:endParaRPr b="0" i="0" sz="1750" u="none" cap="none" strike="noStrike"/>
          </a:p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b="1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University ID No.: </a:t>
            </a: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2211981197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/>
          <p:nvPr/>
        </p:nvSpPr>
        <p:spPr>
          <a:xfrm>
            <a:off x="749856" y="589240"/>
            <a:ext cx="5356741" cy="669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Inter"/>
              <a:buNone/>
            </a:pPr>
            <a:r>
              <a:rPr b="1" i="0" lang="en-US" sz="4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Project Overview</a:t>
            </a:r>
            <a:endParaRPr b="0" i="0" sz="4200" u="none" cap="none" strike="noStrike"/>
          </a:p>
        </p:txBody>
      </p:sp>
      <p:sp>
        <p:nvSpPr>
          <p:cNvPr id="57" name="Google Shape;57;p14"/>
          <p:cNvSpPr/>
          <p:nvPr/>
        </p:nvSpPr>
        <p:spPr>
          <a:xfrm>
            <a:off x="749856" y="3369350"/>
            <a:ext cx="8351996" cy="13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Inter"/>
              <a:buNone/>
            </a:pPr>
            <a:r>
              <a:rPr b="0" i="0" lang="en-US" sz="16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FoodieHub is a centralized platform designed to create seamless interaction between customers and restaurants. The platform addresses inefficiencies in traditional food ordering systems, particularly the lack of real-time order tracking and fragmented user experiences.</a:t>
            </a:r>
            <a:endParaRPr b="0" i="0" sz="1650" u="none" cap="none" strike="noStrike"/>
          </a:p>
        </p:txBody>
      </p:sp>
      <p:sp>
        <p:nvSpPr>
          <p:cNvPr id="58" name="Google Shape;58;p14"/>
          <p:cNvSpPr/>
          <p:nvPr/>
        </p:nvSpPr>
        <p:spPr>
          <a:xfrm>
            <a:off x="749856" y="4885015"/>
            <a:ext cx="8351996" cy="1000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Inter"/>
              <a:buNone/>
            </a:pPr>
            <a:r>
              <a:rPr b="0" i="0" lang="en-US" sz="16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This full-stack application connects diners with restaurants through an intuitive interface, enabling discovery, ordering, and tracking—all within a single unified system.</a:t>
            </a:r>
            <a:endParaRPr b="0" i="0" sz="1650" u="none" cap="none" strike="noStrike"/>
          </a:p>
        </p:txBody>
      </p:sp>
      <p:pic>
        <p:nvPicPr>
          <p:cNvPr descr="preencoded.png" id="59" name="Google Shape;5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32156" y="1789986"/>
            <a:ext cx="4255889" cy="56745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/>
          <p:nvPr/>
        </p:nvSpPr>
        <p:spPr>
          <a:xfrm>
            <a:off x="764143" y="646033"/>
            <a:ext cx="5458420" cy="6823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88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50"/>
              <a:buFont typeface="Inter"/>
              <a:buNone/>
            </a:pPr>
            <a:r>
              <a:rPr b="1" i="0" lang="en-US" sz="42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Project Objectives</a:t>
            </a:r>
            <a:endParaRPr b="0" i="0" sz="4250" u="none" cap="none" strike="noStrike"/>
          </a:p>
        </p:txBody>
      </p:sp>
      <p:sp>
        <p:nvSpPr>
          <p:cNvPr id="66" name="Google Shape;66;p15"/>
          <p:cNvSpPr/>
          <p:nvPr/>
        </p:nvSpPr>
        <p:spPr>
          <a:xfrm>
            <a:off x="764143" y="1748671"/>
            <a:ext cx="6445925" cy="2812375"/>
          </a:xfrm>
          <a:prstGeom prst="roundRect">
            <a:avLst>
              <a:gd fmla="val 3261" name="adj"/>
            </a:avLst>
          </a:prstGeom>
          <a:solidFill>
            <a:srgbClr val="DADBF1"/>
          </a:solidFill>
          <a:ln cap="flat" cmpd="sng" w="9525">
            <a:solidFill>
              <a:srgbClr val="C0C1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5"/>
          <p:cNvSpPr/>
          <p:nvPr/>
        </p:nvSpPr>
        <p:spPr>
          <a:xfrm>
            <a:off x="990005" y="1974533"/>
            <a:ext cx="654963" cy="654963"/>
          </a:xfrm>
          <a:prstGeom prst="roundRect">
            <a:avLst>
              <a:gd fmla="val 13959698" name="adj"/>
            </a:avLst>
          </a:prstGeom>
          <a:solidFill>
            <a:srgbClr val="4950B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8" name="Google Shape;6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70146" y="2154555"/>
            <a:ext cx="294680" cy="29468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5"/>
          <p:cNvSpPr/>
          <p:nvPr/>
        </p:nvSpPr>
        <p:spPr>
          <a:xfrm>
            <a:off x="990005" y="2839641"/>
            <a:ext cx="3026569" cy="3411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100"/>
              <a:buFont typeface="Inter"/>
              <a:buNone/>
            </a:pPr>
            <a:r>
              <a:rPr b="1" i="0" lang="en-US" sz="21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User-Friendly Platform</a:t>
            </a:r>
            <a:endParaRPr b="0" i="0" sz="2100" u="none" cap="none" strike="noStrike"/>
          </a:p>
        </p:txBody>
      </p:sp>
      <p:sp>
        <p:nvSpPr>
          <p:cNvPr id="70" name="Google Shape;70;p15"/>
          <p:cNvSpPr/>
          <p:nvPr/>
        </p:nvSpPr>
        <p:spPr>
          <a:xfrm>
            <a:off x="990005" y="3306842"/>
            <a:ext cx="5994202" cy="10283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88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00"/>
              <a:buFont typeface="Inter"/>
              <a:buNone/>
            </a:pPr>
            <a:r>
              <a:rPr b="0" i="0" lang="en-US" sz="17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Develop an intuitive interface that provides seamless navigation and exceptional user experience for both customers and restaurant owners</a:t>
            </a:r>
            <a:endParaRPr b="0" i="0" sz="1700" u="none" cap="none" strike="noStrike"/>
          </a:p>
        </p:txBody>
      </p:sp>
      <p:sp>
        <p:nvSpPr>
          <p:cNvPr id="71" name="Google Shape;71;p15"/>
          <p:cNvSpPr/>
          <p:nvPr/>
        </p:nvSpPr>
        <p:spPr>
          <a:xfrm>
            <a:off x="7420213" y="1748671"/>
            <a:ext cx="6446044" cy="2812375"/>
          </a:xfrm>
          <a:prstGeom prst="roundRect">
            <a:avLst>
              <a:gd fmla="val 3261" name="adj"/>
            </a:avLst>
          </a:prstGeom>
          <a:solidFill>
            <a:srgbClr val="DADBF1"/>
          </a:solidFill>
          <a:ln cap="flat" cmpd="sng" w="9525">
            <a:solidFill>
              <a:srgbClr val="C0C1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5"/>
          <p:cNvSpPr/>
          <p:nvPr/>
        </p:nvSpPr>
        <p:spPr>
          <a:xfrm>
            <a:off x="7646075" y="1974533"/>
            <a:ext cx="654963" cy="654963"/>
          </a:xfrm>
          <a:prstGeom prst="roundRect">
            <a:avLst>
              <a:gd fmla="val 13959698" name="adj"/>
            </a:avLst>
          </a:prstGeom>
          <a:solidFill>
            <a:srgbClr val="4950B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3" name="Google Shape;7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26216" y="2154555"/>
            <a:ext cx="294680" cy="29468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5"/>
          <p:cNvSpPr/>
          <p:nvPr/>
        </p:nvSpPr>
        <p:spPr>
          <a:xfrm>
            <a:off x="7646075" y="2839641"/>
            <a:ext cx="3633192" cy="3411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100"/>
              <a:buFont typeface="Inter"/>
              <a:buNone/>
            </a:pPr>
            <a:r>
              <a:rPr b="1" i="0" lang="en-US" sz="21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Role-Based Access Control</a:t>
            </a:r>
            <a:endParaRPr b="0" i="0" sz="2100" u="none" cap="none" strike="noStrike"/>
          </a:p>
        </p:txBody>
      </p:sp>
      <p:sp>
        <p:nvSpPr>
          <p:cNvPr id="75" name="Google Shape;75;p15"/>
          <p:cNvSpPr/>
          <p:nvPr/>
        </p:nvSpPr>
        <p:spPr>
          <a:xfrm>
            <a:off x="7646075" y="3306842"/>
            <a:ext cx="5994321" cy="10283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88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00"/>
              <a:buFont typeface="Inter"/>
              <a:buNone/>
            </a:pPr>
            <a:r>
              <a:rPr b="0" i="0" lang="en-US" sz="17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Implement secure authentication and authorization mechanisms to distinguish between customer and restaurant owner functionalities</a:t>
            </a:r>
            <a:endParaRPr b="0" i="0" sz="1700" u="none" cap="none" strike="noStrike"/>
          </a:p>
        </p:txBody>
      </p:sp>
      <p:sp>
        <p:nvSpPr>
          <p:cNvPr id="76" name="Google Shape;76;p15"/>
          <p:cNvSpPr/>
          <p:nvPr/>
        </p:nvSpPr>
        <p:spPr>
          <a:xfrm>
            <a:off x="764143" y="4771192"/>
            <a:ext cx="6445925" cy="2812375"/>
          </a:xfrm>
          <a:prstGeom prst="roundRect">
            <a:avLst>
              <a:gd fmla="val 3261" name="adj"/>
            </a:avLst>
          </a:prstGeom>
          <a:solidFill>
            <a:srgbClr val="DADBF1"/>
          </a:solidFill>
          <a:ln cap="flat" cmpd="sng" w="9525">
            <a:solidFill>
              <a:srgbClr val="C0C1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5"/>
          <p:cNvSpPr/>
          <p:nvPr/>
        </p:nvSpPr>
        <p:spPr>
          <a:xfrm>
            <a:off x="990005" y="4997053"/>
            <a:ext cx="654963" cy="654963"/>
          </a:xfrm>
          <a:prstGeom prst="roundRect">
            <a:avLst>
              <a:gd fmla="val 13959698" name="adj"/>
            </a:avLst>
          </a:prstGeom>
          <a:solidFill>
            <a:srgbClr val="4950B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8" name="Google Shape;7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70146" y="5177076"/>
            <a:ext cx="294680" cy="29468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5"/>
          <p:cNvSpPr/>
          <p:nvPr/>
        </p:nvSpPr>
        <p:spPr>
          <a:xfrm>
            <a:off x="990005" y="5862161"/>
            <a:ext cx="2729151" cy="3411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100"/>
              <a:buFont typeface="Inter"/>
              <a:buNone/>
            </a:pPr>
            <a:r>
              <a:rPr b="1" i="0" lang="en-US" sz="21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Real-Time Tracking</a:t>
            </a:r>
            <a:endParaRPr b="0" i="0" sz="2100" u="none" cap="none" strike="noStrike"/>
          </a:p>
        </p:txBody>
      </p:sp>
      <p:sp>
        <p:nvSpPr>
          <p:cNvPr id="80" name="Google Shape;80;p15"/>
          <p:cNvSpPr/>
          <p:nvPr/>
        </p:nvSpPr>
        <p:spPr>
          <a:xfrm>
            <a:off x="990005" y="6329363"/>
            <a:ext cx="5994202" cy="6855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88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00"/>
              <a:buFont typeface="Inter"/>
              <a:buNone/>
            </a:pPr>
            <a:r>
              <a:rPr b="0" i="0" lang="en-US" sz="17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Enable live order status updates, allowing customers to monitor their orders from preparation to delivery</a:t>
            </a:r>
            <a:endParaRPr b="0" i="0" sz="1700" u="none" cap="none" strike="noStrike"/>
          </a:p>
        </p:txBody>
      </p:sp>
      <p:sp>
        <p:nvSpPr>
          <p:cNvPr id="81" name="Google Shape;81;p15"/>
          <p:cNvSpPr/>
          <p:nvPr/>
        </p:nvSpPr>
        <p:spPr>
          <a:xfrm>
            <a:off x="7420213" y="4771192"/>
            <a:ext cx="6446044" cy="2812375"/>
          </a:xfrm>
          <a:prstGeom prst="roundRect">
            <a:avLst>
              <a:gd fmla="val 3261" name="adj"/>
            </a:avLst>
          </a:prstGeom>
          <a:solidFill>
            <a:srgbClr val="DADBF1"/>
          </a:solidFill>
          <a:ln cap="flat" cmpd="sng" w="9525">
            <a:solidFill>
              <a:srgbClr val="C0C1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5"/>
          <p:cNvSpPr/>
          <p:nvPr/>
        </p:nvSpPr>
        <p:spPr>
          <a:xfrm>
            <a:off x="7646075" y="4997053"/>
            <a:ext cx="654963" cy="654963"/>
          </a:xfrm>
          <a:prstGeom prst="roundRect">
            <a:avLst>
              <a:gd fmla="val 13959698" name="adj"/>
            </a:avLst>
          </a:prstGeom>
          <a:solidFill>
            <a:srgbClr val="4950B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3" name="Google Shape;8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26216" y="5177076"/>
            <a:ext cx="294680" cy="29468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5"/>
          <p:cNvSpPr/>
          <p:nvPr/>
        </p:nvSpPr>
        <p:spPr>
          <a:xfrm>
            <a:off x="7646075" y="5862161"/>
            <a:ext cx="2729151" cy="3411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100"/>
              <a:buFont typeface="Inter"/>
              <a:buNone/>
            </a:pPr>
            <a:r>
              <a:rPr b="1" i="0" lang="en-US" sz="21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System Scalability</a:t>
            </a:r>
            <a:endParaRPr b="0" i="0" sz="2100" u="none" cap="none" strike="noStrike"/>
          </a:p>
        </p:txBody>
      </p:sp>
      <p:sp>
        <p:nvSpPr>
          <p:cNvPr id="85" name="Google Shape;85;p15"/>
          <p:cNvSpPr/>
          <p:nvPr/>
        </p:nvSpPr>
        <p:spPr>
          <a:xfrm>
            <a:off x="7646075" y="6329363"/>
            <a:ext cx="5994321" cy="10283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88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00"/>
              <a:buFont typeface="Inter"/>
              <a:buNone/>
            </a:pPr>
            <a:r>
              <a:rPr b="0" i="0" lang="en-US" sz="17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Build a scalable architecture capable of handling increased traffic and expanding restaurant partnerships efficiently</a:t>
            </a:r>
            <a:endParaRPr b="0" i="0" sz="1700" u="none" cap="none" strike="noStrike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6"/>
          <p:cNvSpPr/>
          <p:nvPr/>
        </p:nvSpPr>
        <p:spPr>
          <a:xfrm>
            <a:off x="746165" y="991910"/>
            <a:ext cx="5330071" cy="6662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0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50"/>
              <a:buFont typeface="Inter"/>
              <a:buNone/>
            </a:pPr>
            <a:r>
              <a:rPr b="1" i="0" lang="en-US" sz="41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Technical Stack</a:t>
            </a:r>
            <a:endParaRPr b="0" i="0" sz="4150" u="none" cap="none" strike="noStrike"/>
          </a:p>
        </p:txBody>
      </p:sp>
      <p:sp>
        <p:nvSpPr>
          <p:cNvPr id="92" name="Google Shape;92;p16"/>
          <p:cNvSpPr/>
          <p:nvPr/>
        </p:nvSpPr>
        <p:spPr>
          <a:xfrm>
            <a:off x="746165" y="2378750"/>
            <a:ext cx="6468785" cy="2334816"/>
          </a:xfrm>
          <a:prstGeom prst="roundRect">
            <a:avLst>
              <a:gd fmla="val 47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6"/>
          <p:cNvSpPr/>
          <p:nvPr/>
        </p:nvSpPr>
        <p:spPr>
          <a:xfrm>
            <a:off x="746165" y="2355890"/>
            <a:ext cx="6468785" cy="91440"/>
          </a:xfrm>
          <a:prstGeom prst="roundRect">
            <a:avLst>
              <a:gd fmla="val 97929" name="adj"/>
            </a:avLst>
          </a:prstGeom>
          <a:solidFill>
            <a:srgbClr val="4950B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6"/>
          <p:cNvSpPr/>
          <p:nvPr/>
        </p:nvSpPr>
        <p:spPr>
          <a:xfrm>
            <a:off x="3660696" y="2058948"/>
            <a:ext cx="639604" cy="639604"/>
          </a:xfrm>
          <a:prstGeom prst="roundRect">
            <a:avLst>
              <a:gd fmla="val 142963" name="adj"/>
            </a:avLst>
          </a:prstGeom>
          <a:solidFill>
            <a:srgbClr val="4950B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6"/>
          <p:cNvSpPr/>
          <p:nvPr/>
        </p:nvSpPr>
        <p:spPr>
          <a:xfrm>
            <a:off x="3852624" y="2218849"/>
            <a:ext cx="255746" cy="319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Inter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 b="0" i="0" sz="2000" u="none" cap="none" strike="noStrike"/>
          </a:p>
        </p:txBody>
      </p:sp>
      <p:sp>
        <p:nvSpPr>
          <p:cNvPr id="96" name="Google Shape;96;p16"/>
          <p:cNvSpPr/>
          <p:nvPr/>
        </p:nvSpPr>
        <p:spPr>
          <a:xfrm>
            <a:off x="982147" y="2911673"/>
            <a:ext cx="2863691" cy="3330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829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050"/>
              <a:buFont typeface="Inter"/>
              <a:buNone/>
            </a:pPr>
            <a:r>
              <a:rPr b="1" i="0" lang="en-US" sz="20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Frontend Architecture</a:t>
            </a:r>
            <a:endParaRPr b="0" i="0" sz="2050" u="none" cap="none" strike="noStrike"/>
          </a:p>
        </p:txBody>
      </p:sp>
      <p:sp>
        <p:nvSpPr>
          <p:cNvPr id="97" name="Google Shape;97;p16"/>
          <p:cNvSpPr/>
          <p:nvPr/>
        </p:nvSpPr>
        <p:spPr>
          <a:xfrm>
            <a:off x="982147" y="3364825"/>
            <a:ext cx="5996821" cy="6617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React.js with Vite</a:t>
            </a:r>
            <a:r>
              <a:rPr b="0" i="0" lang="en-US" sz="16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for fast development and hot module replacement</a:t>
            </a:r>
            <a:endParaRPr b="0" i="0" sz="1650" u="none" cap="none" strike="noStrike"/>
          </a:p>
        </p:txBody>
      </p:sp>
      <p:sp>
        <p:nvSpPr>
          <p:cNvPr id="98" name="Google Shape;98;p16"/>
          <p:cNvSpPr/>
          <p:nvPr/>
        </p:nvSpPr>
        <p:spPr>
          <a:xfrm>
            <a:off x="982147" y="4146709"/>
            <a:ext cx="5996821" cy="330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Tailwind CSS</a:t>
            </a:r>
            <a:r>
              <a:rPr b="0" i="0" lang="en-US" sz="16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for utility-first styling and responsive design</a:t>
            </a:r>
            <a:endParaRPr b="0" i="0" sz="1650" u="none" cap="none" strike="noStrike"/>
          </a:p>
        </p:txBody>
      </p:sp>
      <p:sp>
        <p:nvSpPr>
          <p:cNvPr id="99" name="Google Shape;99;p16"/>
          <p:cNvSpPr/>
          <p:nvPr/>
        </p:nvSpPr>
        <p:spPr>
          <a:xfrm>
            <a:off x="7415332" y="2378750"/>
            <a:ext cx="6468904" cy="2334816"/>
          </a:xfrm>
          <a:prstGeom prst="roundRect">
            <a:avLst>
              <a:gd fmla="val 47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6"/>
          <p:cNvSpPr/>
          <p:nvPr/>
        </p:nvSpPr>
        <p:spPr>
          <a:xfrm>
            <a:off x="7415332" y="2355890"/>
            <a:ext cx="6468904" cy="91440"/>
          </a:xfrm>
          <a:prstGeom prst="roundRect">
            <a:avLst>
              <a:gd fmla="val 97929" name="adj"/>
            </a:avLst>
          </a:prstGeom>
          <a:solidFill>
            <a:srgbClr val="4950B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6"/>
          <p:cNvSpPr/>
          <p:nvPr/>
        </p:nvSpPr>
        <p:spPr>
          <a:xfrm>
            <a:off x="10329982" y="2058948"/>
            <a:ext cx="639604" cy="639604"/>
          </a:xfrm>
          <a:prstGeom prst="roundRect">
            <a:avLst>
              <a:gd fmla="val 142963" name="adj"/>
            </a:avLst>
          </a:prstGeom>
          <a:solidFill>
            <a:srgbClr val="4950B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6"/>
          <p:cNvSpPr/>
          <p:nvPr/>
        </p:nvSpPr>
        <p:spPr>
          <a:xfrm>
            <a:off x="10521910" y="2218849"/>
            <a:ext cx="255746" cy="319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Inter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 b="0" i="0" sz="2000" u="none" cap="none" strike="noStrike"/>
          </a:p>
        </p:txBody>
      </p:sp>
      <p:sp>
        <p:nvSpPr>
          <p:cNvPr id="103" name="Google Shape;103;p16"/>
          <p:cNvSpPr/>
          <p:nvPr/>
        </p:nvSpPr>
        <p:spPr>
          <a:xfrm>
            <a:off x="7651313" y="2911673"/>
            <a:ext cx="2664976" cy="3330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829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050"/>
              <a:buFont typeface="Inter"/>
              <a:buNone/>
            </a:pPr>
            <a:r>
              <a:rPr b="1" i="0" lang="en-US" sz="20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Backend Services</a:t>
            </a:r>
            <a:endParaRPr b="0" i="0" sz="2050" u="none" cap="none" strike="noStrike"/>
          </a:p>
        </p:txBody>
      </p:sp>
      <p:sp>
        <p:nvSpPr>
          <p:cNvPr id="104" name="Google Shape;104;p16"/>
          <p:cNvSpPr/>
          <p:nvPr/>
        </p:nvSpPr>
        <p:spPr>
          <a:xfrm>
            <a:off x="7651313" y="3364825"/>
            <a:ext cx="5996940" cy="330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Node.js</a:t>
            </a:r>
            <a:r>
              <a:rPr b="0" i="0" lang="en-US" sz="16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runtime for server-side execution</a:t>
            </a:r>
            <a:endParaRPr b="0" i="0" sz="1650" u="none" cap="none" strike="noStrike"/>
          </a:p>
        </p:txBody>
      </p:sp>
      <p:sp>
        <p:nvSpPr>
          <p:cNvPr id="105" name="Google Shape;105;p16"/>
          <p:cNvSpPr/>
          <p:nvPr/>
        </p:nvSpPr>
        <p:spPr>
          <a:xfrm>
            <a:off x="7651313" y="3815834"/>
            <a:ext cx="5996940" cy="330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Express.js</a:t>
            </a:r>
            <a:r>
              <a:rPr b="0" i="0" lang="en-US" sz="16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framework for building RESTful APIs</a:t>
            </a:r>
            <a:endParaRPr b="0" i="0" sz="1650" u="none" cap="none" strike="noStrike"/>
          </a:p>
        </p:txBody>
      </p:sp>
      <p:sp>
        <p:nvSpPr>
          <p:cNvPr id="106" name="Google Shape;106;p16"/>
          <p:cNvSpPr/>
          <p:nvPr/>
        </p:nvSpPr>
        <p:spPr>
          <a:xfrm>
            <a:off x="746165" y="5233749"/>
            <a:ext cx="6468785" cy="2003941"/>
          </a:xfrm>
          <a:prstGeom prst="roundRect">
            <a:avLst>
              <a:gd fmla="val 5476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6"/>
          <p:cNvSpPr/>
          <p:nvPr/>
        </p:nvSpPr>
        <p:spPr>
          <a:xfrm>
            <a:off x="746165" y="5210889"/>
            <a:ext cx="6468785" cy="91440"/>
          </a:xfrm>
          <a:prstGeom prst="roundRect">
            <a:avLst>
              <a:gd fmla="val 97929" name="adj"/>
            </a:avLst>
          </a:prstGeom>
          <a:solidFill>
            <a:srgbClr val="4950B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6"/>
          <p:cNvSpPr/>
          <p:nvPr/>
        </p:nvSpPr>
        <p:spPr>
          <a:xfrm>
            <a:off x="3660696" y="4913948"/>
            <a:ext cx="639604" cy="639604"/>
          </a:xfrm>
          <a:prstGeom prst="roundRect">
            <a:avLst>
              <a:gd fmla="val 142963" name="adj"/>
            </a:avLst>
          </a:prstGeom>
          <a:solidFill>
            <a:srgbClr val="4950B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6"/>
          <p:cNvSpPr/>
          <p:nvPr/>
        </p:nvSpPr>
        <p:spPr>
          <a:xfrm>
            <a:off x="3852624" y="5073848"/>
            <a:ext cx="255746" cy="319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Inter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endParaRPr b="0" i="0" sz="2000" u="none" cap="none" strike="noStrike"/>
          </a:p>
        </p:txBody>
      </p:sp>
      <p:sp>
        <p:nvSpPr>
          <p:cNvPr id="110" name="Google Shape;110;p16"/>
          <p:cNvSpPr/>
          <p:nvPr/>
        </p:nvSpPr>
        <p:spPr>
          <a:xfrm>
            <a:off x="982147" y="5766673"/>
            <a:ext cx="2664976" cy="3330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829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050"/>
              <a:buFont typeface="Inter"/>
              <a:buNone/>
            </a:pPr>
            <a:r>
              <a:rPr b="1" i="0" lang="en-US" sz="20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Database Layer</a:t>
            </a:r>
            <a:endParaRPr b="0" i="0" sz="2050" u="none" cap="none" strike="noStrike"/>
          </a:p>
        </p:txBody>
      </p:sp>
      <p:sp>
        <p:nvSpPr>
          <p:cNvPr id="111" name="Google Shape;111;p16"/>
          <p:cNvSpPr/>
          <p:nvPr/>
        </p:nvSpPr>
        <p:spPr>
          <a:xfrm>
            <a:off x="982147" y="6219825"/>
            <a:ext cx="5996821" cy="330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MongoDB</a:t>
            </a:r>
            <a:r>
              <a:rPr b="0" i="0" lang="en-US" sz="16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NoSQL database for flexible data storage</a:t>
            </a:r>
            <a:endParaRPr b="0" i="0" sz="1650" u="none" cap="none" strike="noStrike"/>
          </a:p>
        </p:txBody>
      </p:sp>
      <p:sp>
        <p:nvSpPr>
          <p:cNvPr id="112" name="Google Shape;112;p16"/>
          <p:cNvSpPr/>
          <p:nvPr/>
        </p:nvSpPr>
        <p:spPr>
          <a:xfrm>
            <a:off x="982147" y="6670834"/>
            <a:ext cx="5996821" cy="330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Mongoose</a:t>
            </a:r>
            <a:r>
              <a:rPr b="0" i="0" lang="en-US" sz="16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ODM for schema modeling and data validation</a:t>
            </a:r>
            <a:endParaRPr b="0" i="0" sz="1650" u="none" cap="none" strike="noStrike"/>
          </a:p>
        </p:txBody>
      </p:sp>
      <p:sp>
        <p:nvSpPr>
          <p:cNvPr id="113" name="Google Shape;113;p16"/>
          <p:cNvSpPr/>
          <p:nvPr/>
        </p:nvSpPr>
        <p:spPr>
          <a:xfrm>
            <a:off x="7415332" y="5233749"/>
            <a:ext cx="6468904" cy="2003941"/>
          </a:xfrm>
          <a:prstGeom prst="roundRect">
            <a:avLst>
              <a:gd fmla="val 5476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6"/>
          <p:cNvSpPr/>
          <p:nvPr/>
        </p:nvSpPr>
        <p:spPr>
          <a:xfrm>
            <a:off x="7415332" y="5210889"/>
            <a:ext cx="6468904" cy="91440"/>
          </a:xfrm>
          <a:prstGeom prst="roundRect">
            <a:avLst>
              <a:gd fmla="val 97929" name="adj"/>
            </a:avLst>
          </a:prstGeom>
          <a:solidFill>
            <a:srgbClr val="4950B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6"/>
          <p:cNvSpPr/>
          <p:nvPr/>
        </p:nvSpPr>
        <p:spPr>
          <a:xfrm>
            <a:off x="10329982" y="4913948"/>
            <a:ext cx="639604" cy="639604"/>
          </a:xfrm>
          <a:prstGeom prst="roundRect">
            <a:avLst>
              <a:gd fmla="val 142963" name="adj"/>
            </a:avLst>
          </a:prstGeom>
          <a:solidFill>
            <a:srgbClr val="4950B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6"/>
          <p:cNvSpPr/>
          <p:nvPr/>
        </p:nvSpPr>
        <p:spPr>
          <a:xfrm>
            <a:off x="10521910" y="5073848"/>
            <a:ext cx="255746" cy="319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Inter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 b="0" i="0" sz="2000" u="none" cap="none" strike="noStrike"/>
          </a:p>
        </p:txBody>
      </p:sp>
      <p:sp>
        <p:nvSpPr>
          <p:cNvPr id="117" name="Google Shape;117;p16"/>
          <p:cNvSpPr/>
          <p:nvPr/>
        </p:nvSpPr>
        <p:spPr>
          <a:xfrm>
            <a:off x="7651313" y="5766673"/>
            <a:ext cx="3817620" cy="3330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829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050"/>
              <a:buFont typeface="Inter"/>
              <a:buNone/>
            </a:pPr>
            <a:r>
              <a:rPr b="1" i="0" lang="en-US" sz="20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Authentication &amp; Deployment</a:t>
            </a:r>
            <a:endParaRPr b="0" i="0" sz="2050" u="none" cap="none" strike="noStrike"/>
          </a:p>
        </p:txBody>
      </p:sp>
      <p:sp>
        <p:nvSpPr>
          <p:cNvPr id="118" name="Google Shape;118;p16"/>
          <p:cNvSpPr/>
          <p:nvPr/>
        </p:nvSpPr>
        <p:spPr>
          <a:xfrm>
            <a:off x="7651313" y="6219825"/>
            <a:ext cx="5996940" cy="330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Clerk Authentication</a:t>
            </a:r>
            <a:r>
              <a:rPr b="0" i="0" lang="en-US" sz="16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for secure user management</a:t>
            </a:r>
            <a:endParaRPr b="0" i="0" sz="1650" u="none" cap="none" strike="noStrike"/>
          </a:p>
        </p:txBody>
      </p:sp>
      <p:sp>
        <p:nvSpPr>
          <p:cNvPr id="119" name="Google Shape;119;p16"/>
          <p:cNvSpPr/>
          <p:nvPr/>
        </p:nvSpPr>
        <p:spPr>
          <a:xfrm>
            <a:off x="7651313" y="6670834"/>
            <a:ext cx="5996940" cy="330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Vercel</a:t>
            </a:r>
            <a:r>
              <a:rPr b="0" i="0" lang="en-US" sz="16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for frontend hosting and CDN distribution</a:t>
            </a:r>
            <a:endParaRPr b="0" i="0" sz="1650" u="none" cap="none" strike="noStrike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7"/>
          <p:cNvSpPr/>
          <p:nvPr/>
        </p:nvSpPr>
        <p:spPr>
          <a:xfrm>
            <a:off x="793790" y="1061561"/>
            <a:ext cx="6883479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50"/>
              <a:buFont typeface="Inter"/>
              <a:buNone/>
            </a:pPr>
            <a:r>
              <a:rPr b="1" i="0" lang="en-US" sz="44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Functional Requirements</a:t>
            </a:r>
            <a:endParaRPr b="0" i="0" sz="4450" u="none" cap="none" strike="noStrike"/>
          </a:p>
        </p:txBody>
      </p:sp>
      <p:sp>
        <p:nvSpPr>
          <p:cNvPr id="126" name="Google Shape;126;p17"/>
          <p:cNvSpPr/>
          <p:nvPr/>
        </p:nvSpPr>
        <p:spPr>
          <a:xfrm>
            <a:off x="793790" y="2337316"/>
            <a:ext cx="5735598" cy="425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52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50"/>
              <a:buFont typeface="Inter"/>
              <a:buNone/>
            </a:pPr>
            <a:r>
              <a:rPr b="1" i="0" lang="en-US" sz="26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User Registration &amp; Authentication</a:t>
            </a:r>
            <a:endParaRPr b="0" i="0" sz="2650" u="none" cap="none" strike="noStrike"/>
          </a:p>
        </p:txBody>
      </p:sp>
      <p:sp>
        <p:nvSpPr>
          <p:cNvPr id="127" name="Google Shape;127;p17"/>
          <p:cNvSpPr/>
          <p:nvPr/>
        </p:nvSpPr>
        <p:spPr>
          <a:xfrm>
            <a:off x="793790" y="2989421"/>
            <a:ext cx="6244709" cy="16102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Char char="•"/>
            </a:pP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Secure user registration with email verification</a:t>
            </a:r>
            <a:endParaRPr b="0" i="0" sz="1750" u="none" cap="none" strike="noStrike"/>
          </a:p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Char char="•"/>
            </a:pP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Role-based account creation (Customer or Restaurant Owner)</a:t>
            </a:r>
            <a:endParaRPr b="0" i="0" sz="1750" u="none" cap="none" strike="noStrike"/>
          </a:p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Char char="•"/>
            </a:pP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Password recovery and account management features</a:t>
            </a:r>
            <a:endParaRPr b="0" i="0" sz="1750" u="none" cap="none" strike="noStrike"/>
          </a:p>
        </p:txBody>
      </p:sp>
      <p:sp>
        <p:nvSpPr>
          <p:cNvPr id="128" name="Google Shape;128;p17"/>
          <p:cNvSpPr/>
          <p:nvPr/>
        </p:nvSpPr>
        <p:spPr>
          <a:xfrm>
            <a:off x="793790" y="4826437"/>
            <a:ext cx="4530804" cy="425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52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50"/>
              <a:buFont typeface="Inter"/>
              <a:buNone/>
            </a:pPr>
            <a:r>
              <a:rPr b="1" i="0" lang="en-US" sz="26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Role-Based Access Control</a:t>
            </a:r>
            <a:endParaRPr b="0" i="0" sz="2650" u="none" cap="none" strike="noStrike"/>
          </a:p>
        </p:txBody>
      </p:sp>
      <p:sp>
        <p:nvSpPr>
          <p:cNvPr id="129" name="Google Shape;129;p17"/>
          <p:cNvSpPr/>
          <p:nvPr/>
        </p:nvSpPr>
        <p:spPr>
          <a:xfrm>
            <a:off x="793790" y="5478542"/>
            <a:ext cx="6244709" cy="16102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Char char="•"/>
            </a:pP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Customer dashboard for browsing and ordering</a:t>
            </a:r>
            <a:endParaRPr b="0" i="0" sz="1750" u="none" cap="none" strike="noStrike"/>
          </a:p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Char char="•"/>
            </a:pP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Restaurant owner portal for menu and order management</a:t>
            </a:r>
            <a:endParaRPr b="0" i="0" sz="1750" u="none" cap="none" strike="noStrike"/>
          </a:p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Char char="•"/>
            </a:pP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Distinct permissions and interface for each role</a:t>
            </a:r>
            <a:endParaRPr b="0" i="0" sz="1750" u="none" cap="none" strike="noStrike"/>
          </a:p>
        </p:txBody>
      </p:sp>
      <p:sp>
        <p:nvSpPr>
          <p:cNvPr id="130" name="Google Shape;130;p17"/>
          <p:cNvSpPr/>
          <p:nvPr/>
        </p:nvSpPr>
        <p:spPr>
          <a:xfrm>
            <a:off x="7599521" y="2337316"/>
            <a:ext cx="4547235" cy="425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52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50"/>
              <a:buFont typeface="Inter"/>
              <a:buNone/>
            </a:pPr>
            <a:r>
              <a:rPr b="1" i="0" lang="en-US" sz="26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Menu Management System</a:t>
            </a:r>
            <a:endParaRPr b="0" i="0" sz="2650" u="none" cap="none" strike="noStrike"/>
          </a:p>
        </p:txBody>
      </p:sp>
      <p:sp>
        <p:nvSpPr>
          <p:cNvPr id="131" name="Google Shape;131;p17"/>
          <p:cNvSpPr/>
          <p:nvPr/>
        </p:nvSpPr>
        <p:spPr>
          <a:xfrm>
            <a:off x="7599521" y="2989421"/>
            <a:ext cx="6244709" cy="16102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Char char="•"/>
            </a:pP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Restaurant owners can add, update, and remove menu items</a:t>
            </a:r>
            <a:endParaRPr b="0" i="0" sz="1750" u="none" cap="none" strike="noStrike"/>
          </a:p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Char char="•"/>
            </a:pP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Category organization and item categorization</a:t>
            </a:r>
            <a:endParaRPr b="0" i="0" sz="1750" u="none" cap="none" strike="noStrike"/>
          </a:p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Char char="•"/>
            </a:pP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Image upload and pricing management</a:t>
            </a:r>
            <a:endParaRPr b="0" i="0" sz="1750" u="none" cap="none" strike="noStrike"/>
          </a:p>
        </p:txBody>
      </p:sp>
      <p:sp>
        <p:nvSpPr>
          <p:cNvPr id="132" name="Google Shape;132;p17"/>
          <p:cNvSpPr/>
          <p:nvPr/>
        </p:nvSpPr>
        <p:spPr>
          <a:xfrm>
            <a:off x="7599521" y="4826437"/>
            <a:ext cx="4378523" cy="425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52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50"/>
              <a:buFont typeface="Inter"/>
              <a:buNone/>
            </a:pPr>
            <a:r>
              <a:rPr b="1" i="0" lang="en-US" sz="26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Order Tracking Dashboard</a:t>
            </a:r>
            <a:endParaRPr b="0" i="0" sz="2650" u="none" cap="none" strike="noStrike"/>
          </a:p>
        </p:txBody>
      </p:sp>
      <p:sp>
        <p:nvSpPr>
          <p:cNvPr id="133" name="Google Shape;133;p17"/>
          <p:cNvSpPr/>
          <p:nvPr/>
        </p:nvSpPr>
        <p:spPr>
          <a:xfrm>
            <a:off x="7599521" y="5478542"/>
            <a:ext cx="6244709" cy="12472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Char char="•"/>
            </a:pP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Real-time order status updates for customers</a:t>
            </a:r>
            <a:endParaRPr b="0" i="0" sz="1750" u="none" cap="none" strike="noStrike"/>
          </a:p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Char char="•"/>
            </a:pP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Order history and transaction records</a:t>
            </a:r>
            <a:endParaRPr b="0" i="0" sz="1750" u="none" cap="none" strike="noStrike"/>
          </a:p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Char char="•"/>
            </a:pP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Delivery status visualization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39" name="Google Shape;13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8"/>
          <p:cNvSpPr/>
          <p:nvPr/>
        </p:nvSpPr>
        <p:spPr>
          <a:xfrm>
            <a:off x="6214229" y="661749"/>
            <a:ext cx="5217914" cy="6498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Inter"/>
              <a:buNone/>
            </a:pPr>
            <a:r>
              <a:rPr b="1" i="0" lang="en-US" sz="40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System Architecture</a:t>
            </a:r>
            <a:endParaRPr b="0" i="0" sz="4050" u="none" cap="none" strike="noStrike"/>
          </a:p>
        </p:txBody>
      </p:sp>
      <p:pic>
        <p:nvPicPr>
          <p:cNvPr descr="preencoded.png" id="141" name="Google Shape;141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14229" y="1597462"/>
            <a:ext cx="1039773" cy="1492567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8"/>
          <p:cNvSpPr/>
          <p:nvPr/>
        </p:nvSpPr>
        <p:spPr>
          <a:xfrm>
            <a:off x="7444621" y="1805345"/>
            <a:ext cx="2902982" cy="324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000"/>
              <a:buFont typeface="Inter"/>
              <a:buNone/>
            </a:pPr>
            <a:r>
              <a:rPr b="1" i="0" lang="en-US" sz="20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Authentication Module</a:t>
            </a:r>
            <a:endParaRPr b="0" i="0" sz="2000" u="none" cap="none" strike="noStrike"/>
          </a:p>
        </p:txBody>
      </p:sp>
      <p:sp>
        <p:nvSpPr>
          <p:cNvPr id="143" name="Google Shape;143;p18"/>
          <p:cNvSpPr/>
          <p:nvPr/>
        </p:nvSpPr>
        <p:spPr>
          <a:xfrm>
            <a:off x="7444621" y="2244447"/>
            <a:ext cx="6457950" cy="6376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00"/>
              <a:buFont typeface="Inter"/>
              <a:buNone/>
            </a:pPr>
            <a:r>
              <a:rPr b="0" i="0" lang="en-US" sz="16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Handles user registration, login, session management, and secure token-based authentication using Clerk</a:t>
            </a:r>
            <a:endParaRPr b="0" i="0" sz="1600" u="none" cap="none" strike="noStrike"/>
          </a:p>
        </p:txBody>
      </p:sp>
      <p:pic>
        <p:nvPicPr>
          <p:cNvPr descr="preencoded.png" id="144" name="Google Shape;144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14229" y="3090029"/>
            <a:ext cx="1039773" cy="1492567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/>
          <p:nvPr/>
        </p:nvSpPr>
        <p:spPr>
          <a:xfrm>
            <a:off x="7444621" y="3297912"/>
            <a:ext cx="2599372" cy="324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000"/>
              <a:buFont typeface="Inter"/>
              <a:buNone/>
            </a:pPr>
            <a:r>
              <a:rPr b="1" i="0" lang="en-US" sz="20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Menu Management</a:t>
            </a:r>
            <a:endParaRPr b="0" i="0" sz="2000" u="none" cap="none" strike="noStrike"/>
          </a:p>
        </p:txBody>
      </p:sp>
      <p:sp>
        <p:nvSpPr>
          <p:cNvPr id="146" name="Google Shape;146;p18"/>
          <p:cNvSpPr/>
          <p:nvPr/>
        </p:nvSpPr>
        <p:spPr>
          <a:xfrm>
            <a:off x="7444621" y="3737015"/>
            <a:ext cx="6457950" cy="6376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00"/>
              <a:buFont typeface="Inter"/>
              <a:buNone/>
            </a:pPr>
            <a:r>
              <a:rPr b="0" i="0" lang="en-US" sz="16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CRUD operations for menu items, categories, and restaurant information with data validation</a:t>
            </a:r>
            <a:endParaRPr b="0" i="0" sz="1600" u="none" cap="none" strike="noStrike"/>
          </a:p>
        </p:txBody>
      </p:sp>
      <p:pic>
        <p:nvPicPr>
          <p:cNvPr descr="preencoded.png" id="147" name="Google Shape;147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14229" y="4582597"/>
            <a:ext cx="1039773" cy="1492567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/>
          <p:nvPr/>
        </p:nvSpPr>
        <p:spPr>
          <a:xfrm>
            <a:off x="7444621" y="4790480"/>
            <a:ext cx="2599372" cy="324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000"/>
              <a:buFont typeface="Inter"/>
              <a:buNone/>
            </a:pPr>
            <a:r>
              <a:rPr b="1" i="0" lang="en-US" sz="20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Order Module</a:t>
            </a:r>
            <a:endParaRPr b="0" i="0" sz="2000" u="none" cap="none" strike="noStrike"/>
          </a:p>
        </p:txBody>
      </p:sp>
      <p:sp>
        <p:nvSpPr>
          <p:cNvPr id="149" name="Google Shape;149;p18"/>
          <p:cNvSpPr/>
          <p:nvPr/>
        </p:nvSpPr>
        <p:spPr>
          <a:xfrm>
            <a:off x="7444621" y="5229582"/>
            <a:ext cx="6457950" cy="6376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00"/>
              <a:buFont typeface="Inter"/>
              <a:buNone/>
            </a:pPr>
            <a:r>
              <a:rPr b="0" i="0" lang="en-US" sz="16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Order processing, cart management, payment integration, and status tracking system</a:t>
            </a:r>
            <a:endParaRPr b="0" i="0" sz="1600" u="none" cap="none" strike="noStrike"/>
          </a:p>
        </p:txBody>
      </p:sp>
      <p:pic>
        <p:nvPicPr>
          <p:cNvPr descr="preencoded.png" id="150" name="Google Shape;150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14229" y="6075164"/>
            <a:ext cx="1039773" cy="1492567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8"/>
          <p:cNvSpPr/>
          <p:nvPr/>
        </p:nvSpPr>
        <p:spPr>
          <a:xfrm>
            <a:off x="7444621" y="6283047"/>
            <a:ext cx="2652474" cy="324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5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000"/>
              <a:buFont typeface="Inter"/>
              <a:buNone/>
            </a:pPr>
            <a:r>
              <a:rPr b="1" i="0" lang="en-US" sz="20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Analytics Dashboard</a:t>
            </a:r>
            <a:endParaRPr b="0" i="0" sz="2000" u="none" cap="none" strike="noStrike"/>
          </a:p>
        </p:txBody>
      </p:sp>
      <p:sp>
        <p:nvSpPr>
          <p:cNvPr id="152" name="Google Shape;152;p18"/>
          <p:cNvSpPr/>
          <p:nvPr/>
        </p:nvSpPr>
        <p:spPr>
          <a:xfrm>
            <a:off x="7444621" y="6722150"/>
            <a:ext cx="6457950" cy="6376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00"/>
              <a:buFont typeface="Inter"/>
              <a:buNone/>
            </a:pPr>
            <a:r>
              <a:rPr b="0" i="0" lang="en-US" sz="16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Restaurant owners can view sales reports, customer insights, and performance metrics</a:t>
            </a:r>
            <a:endParaRPr b="0" i="0" sz="1600" u="none" cap="none" strike="noStrike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9"/>
          <p:cNvSpPr/>
          <p:nvPr/>
        </p:nvSpPr>
        <p:spPr>
          <a:xfrm>
            <a:off x="779383" y="634365"/>
            <a:ext cx="5567482" cy="69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2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Inter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User Workflow</a:t>
            </a:r>
            <a:endParaRPr b="0" i="0" sz="4350" u="none" cap="none" strike="noStrike"/>
          </a:p>
        </p:txBody>
      </p:sp>
      <p:pic>
        <p:nvPicPr>
          <p:cNvPr descr="preencoded.png" id="159" name="Google Shape;15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9383" y="2101453"/>
            <a:ext cx="6426518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/>
          <p:nvPr/>
        </p:nvSpPr>
        <p:spPr>
          <a:xfrm>
            <a:off x="1002030" y="2988112"/>
            <a:ext cx="3343037" cy="3479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150"/>
              <a:buFont typeface="Inter"/>
              <a:buNone/>
            </a:pPr>
            <a:r>
              <a:rPr b="1" i="0" lang="en-US" sz="21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User Login / Registration</a:t>
            </a:r>
            <a:endParaRPr b="0" i="0" sz="2150" u="none" cap="none" strike="noStrike"/>
          </a:p>
        </p:txBody>
      </p:sp>
      <p:sp>
        <p:nvSpPr>
          <p:cNvPr id="161" name="Google Shape;161;p19"/>
          <p:cNvSpPr/>
          <p:nvPr/>
        </p:nvSpPr>
        <p:spPr>
          <a:xfrm>
            <a:off x="1002030" y="3467100"/>
            <a:ext cx="5981224" cy="10587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Users authenticate using secure credentials and are redirected to their personalized dashboard based on assigned role</a:t>
            </a:r>
            <a:endParaRPr b="0" i="0" sz="1750" u="none" cap="none" strike="noStrike"/>
          </a:p>
        </p:txBody>
      </p:sp>
      <p:pic>
        <p:nvPicPr>
          <p:cNvPr descr="preencoded.png" id="162" name="Google Shape;16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24499" y="1767483"/>
            <a:ext cx="6426518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9"/>
          <p:cNvSpPr/>
          <p:nvPr/>
        </p:nvSpPr>
        <p:spPr>
          <a:xfrm>
            <a:off x="7647146" y="2654141"/>
            <a:ext cx="3810595" cy="3479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150"/>
              <a:buFont typeface="Inter"/>
              <a:buNone/>
            </a:pPr>
            <a:r>
              <a:rPr b="1" i="0" lang="en-US" sz="21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Browse Restaurants &amp; Menu</a:t>
            </a:r>
            <a:endParaRPr b="0" i="0" sz="2150" u="none" cap="none" strike="noStrike"/>
          </a:p>
        </p:txBody>
      </p:sp>
      <p:sp>
        <p:nvSpPr>
          <p:cNvPr id="164" name="Google Shape;164;p19"/>
          <p:cNvSpPr/>
          <p:nvPr/>
        </p:nvSpPr>
        <p:spPr>
          <a:xfrm>
            <a:off x="7647146" y="3133130"/>
            <a:ext cx="5981224" cy="10587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Customers explore available restaurants, filter by cuisine or location, and view detailed menu items with descriptions and prices</a:t>
            </a:r>
            <a:endParaRPr b="0" i="0" sz="1750" u="none" cap="none" strike="noStrike"/>
          </a:p>
        </p:txBody>
      </p:sp>
      <p:pic>
        <p:nvPicPr>
          <p:cNvPr descr="preencoded.png" id="165" name="Google Shape;16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9383" y="5301020"/>
            <a:ext cx="6426518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9"/>
          <p:cNvSpPr/>
          <p:nvPr/>
        </p:nvSpPr>
        <p:spPr>
          <a:xfrm>
            <a:off x="1002030" y="6187678"/>
            <a:ext cx="2783681" cy="3479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150"/>
              <a:buFont typeface="Inter"/>
              <a:buNone/>
            </a:pPr>
            <a:r>
              <a:rPr b="1" i="0" lang="en-US" sz="21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Add Items to Cart</a:t>
            </a:r>
            <a:endParaRPr b="0" i="0" sz="2150" u="none" cap="none" strike="noStrike"/>
          </a:p>
        </p:txBody>
      </p:sp>
      <p:sp>
        <p:nvSpPr>
          <p:cNvPr id="167" name="Google Shape;167;p19"/>
          <p:cNvSpPr/>
          <p:nvPr/>
        </p:nvSpPr>
        <p:spPr>
          <a:xfrm>
            <a:off x="1002030" y="6666667"/>
            <a:ext cx="5981224" cy="7058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Select menu items, customize orders, and add them to the shopping cart for checkout</a:t>
            </a:r>
            <a:endParaRPr b="0" i="0" sz="1750" u="none" cap="none" strike="noStrike"/>
          </a:p>
        </p:txBody>
      </p:sp>
      <p:pic>
        <p:nvPicPr>
          <p:cNvPr descr="preencoded.png" id="168" name="Google Shape;16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24499" y="4967049"/>
            <a:ext cx="6426518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9"/>
          <p:cNvSpPr/>
          <p:nvPr/>
        </p:nvSpPr>
        <p:spPr>
          <a:xfrm>
            <a:off x="7647146" y="5853708"/>
            <a:ext cx="2783681" cy="3479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81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150"/>
              <a:buFont typeface="Inter"/>
              <a:buNone/>
            </a:pPr>
            <a:r>
              <a:rPr b="1" i="0" lang="en-US" sz="21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Place Order &amp; Track</a:t>
            </a:r>
            <a:endParaRPr b="0" i="0" sz="2150" u="none" cap="none" strike="noStrike"/>
          </a:p>
        </p:txBody>
      </p:sp>
      <p:sp>
        <p:nvSpPr>
          <p:cNvPr id="170" name="Google Shape;170;p19"/>
          <p:cNvSpPr/>
          <p:nvPr/>
        </p:nvSpPr>
        <p:spPr>
          <a:xfrm>
            <a:off x="7647146" y="6332696"/>
            <a:ext cx="5981224" cy="7058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Complete payment process and monitor real-time order status updates from preparation to delivery completion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0"/>
          <p:cNvSpPr/>
          <p:nvPr/>
        </p:nvSpPr>
        <p:spPr>
          <a:xfrm>
            <a:off x="735330" y="874752"/>
            <a:ext cx="7483316" cy="65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6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Inter"/>
              <a:buNone/>
            </a:pPr>
            <a:r>
              <a:rPr b="1" i="0" lang="en-US" sz="41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Testing &amp; Feasibility Analysis</a:t>
            </a:r>
            <a:endParaRPr b="0" i="0" sz="4100" u="none" cap="none" strike="noStrike"/>
          </a:p>
        </p:txBody>
      </p:sp>
      <p:sp>
        <p:nvSpPr>
          <p:cNvPr id="177" name="Google Shape;177;p20"/>
          <p:cNvSpPr/>
          <p:nvPr/>
        </p:nvSpPr>
        <p:spPr>
          <a:xfrm>
            <a:off x="735330" y="2017752"/>
            <a:ext cx="3788331" cy="3938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53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50"/>
              <a:buFont typeface="Inter"/>
              <a:buNone/>
            </a:pPr>
            <a:r>
              <a:rPr b="1" i="0" lang="en-US" sz="24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Test Cases Implemented</a:t>
            </a:r>
            <a:endParaRPr b="0" i="0" sz="2450" u="none" cap="none" strike="noStrike"/>
          </a:p>
        </p:txBody>
      </p:sp>
      <p:sp>
        <p:nvSpPr>
          <p:cNvPr id="178" name="Google Shape;178;p20"/>
          <p:cNvSpPr/>
          <p:nvPr/>
        </p:nvSpPr>
        <p:spPr>
          <a:xfrm>
            <a:off x="735330" y="2630448"/>
            <a:ext cx="472678" cy="472678"/>
          </a:xfrm>
          <a:prstGeom prst="roundRect">
            <a:avLst>
              <a:gd fmla="val 18668" name="adj"/>
            </a:avLst>
          </a:prstGeom>
          <a:solidFill>
            <a:srgbClr val="DADBF1"/>
          </a:solidFill>
          <a:ln cap="flat" cmpd="sng" w="9525">
            <a:solidFill>
              <a:srgbClr val="C0C1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20"/>
          <p:cNvSpPr/>
          <p:nvPr/>
        </p:nvSpPr>
        <p:spPr>
          <a:xfrm>
            <a:off x="1402556" y="2702600"/>
            <a:ext cx="2626162" cy="3282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050"/>
              <a:buFont typeface="Inter"/>
              <a:buNone/>
            </a:pPr>
            <a:r>
              <a:rPr b="1" i="0" lang="en-US" sz="20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Login Validation</a:t>
            </a:r>
            <a:endParaRPr b="0" i="0" sz="2050" u="none" cap="none" strike="noStrike"/>
          </a:p>
        </p:txBody>
      </p:sp>
      <p:sp>
        <p:nvSpPr>
          <p:cNvPr id="180" name="Google Shape;180;p20"/>
          <p:cNvSpPr/>
          <p:nvPr/>
        </p:nvSpPr>
        <p:spPr>
          <a:xfrm>
            <a:off x="1402556" y="3225403"/>
            <a:ext cx="5656421" cy="647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151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Inter"/>
              <a:buNone/>
            </a:pPr>
            <a:r>
              <a:rPr b="0" i="0" lang="en-US" sz="16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Tested credential verification, error handling for invalid inputs, and session management</a:t>
            </a:r>
            <a:endParaRPr b="0" i="0" sz="1650" u="none" cap="none" strike="noStrike"/>
          </a:p>
        </p:txBody>
      </p:sp>
      <p:sp>
        <p:nvSpPr>
          <p:cNvPr id="181" name="Google Shape;181;p20"/>
          <p:cNvSpPr/>
          <p:nvPr/>
        </p:nvSpPr>
        <p:spPr>
          <a:xfrm>
            <a:off x="735330" y="4261961"/>
            <a:ext cx="472678" cy="472678"/>
          </a:xfrm>
          <a:prstGeom prst="roundRect">
            <a:avLst>
              <a:gd fmla="val 18668" name="adj"/>
            </a:avLst>
          </a:prstGeom>
          <a:solidFill>
            <a:srgbClr val="DADBF1"/>
          </a:solidFill>
          <a:ln cap="flat" cmpd="sng" w="9525">
            <a:solidFill>
              <a:srgbClr val="C0C1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20"/>
          <p:cNvSpPr/>
          <p:nvPr/>
        </p:nvSpPr>
        <p:spPr>
          <a:xfrm>
            <a:off x="1402556" y="4334113"/>
            <a:ext cx="2626162" cy="3282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050"/>
              <a:buFont typeface="Inter"/>
              <a:buNone/>
            </a:pPr>
            <a:r>
              <a:rPr b="1" i="0" lang="en-US" sz="20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Form Handling</a:t>
            </a:r>
            <a:endParaRPr b="0" i="0" sz="2050" u="none" cap="none" strike="noStrike"/>
          </a:p>
        </p:txBody>
      </p:sp>
      <p:sp>
        <p:nvSpPr>
          <p:cNvPr id="183" name="Google Shape;183;p20"/>
          <p:cNvSpPr/>
          <p:nvPr/>
        </p:nvSpPr>
        <p:spPr>
          <a:xfrm>
            <a:off x="1402556" y="4856917"/>
            <a:ext cx="5656421" cy="647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151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Inter"/>
              <a:buNone/>
            </a:pPr>
            <a:r>
              <a:rPr b="0" i="0" lang="en-US" sz="16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Validated form submissions, input sanitization, and error message displays</a:t>
            </a:r>
            <a:endParaRPr b="0" i="0" sz="1650" u="none" cap="none" strike="noStrike"/>
          </a:p>
        </p:txBody>
      </p:sp>
      <p:sp>
        <p:nvSpPr>
          <p:cNvPr id="184" name="Google Shape;184;p20"/>
          <p:cNvSpPr/>
          <p:nvPr/>
        </p:nvSpPr>
        <p:spPr>
          <a:xfrm>
            <a:off x="735330" y="5893475"/>
            <a:ext cx="472678" cy="472678"/>
          </a:xfrm>
          <a:prstGeom prst="roundRect">
            <a:avLst>
              <a:gd fmla="val 18668" name="adj"/>
            </a:avLst>
          </a:prstGeom>
          <a:solidFill>
            <a:srgbClr val="DADBF1"/>
          </a:solidFill>
          <a:ln cap="flat" cmpd="sng" w="9525">
            <a:solidFill>
              <a:srgbClr val="C0C1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20"/>
          <p:cNvSpPr/>
          <p:nvPr/>
        </p:nvSpPr>
        <p:spPr>
          <a:xfrm>
            <a:off x="1402556" y="5965627"/>
            <a:ext cx="2626162" cy="3282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050"/>
              <a:buFont typeface="Inter"/>
              <a:buNone/>
            </a:pPr>
            <a:r>
              <a:rPr b="1" i="0" lang="en-US" sz="20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CRUD Operations</a:t>
            </a:r>
            <a:endParaRPr b="0" i="0" sz="2050" u="none" cap="none" strike="noStrike"/>
          </a:p>
        </p:txBody>
      </p:sp>
      <p:sp>
        <p:nvSpPr>
          <p:cNvPr id="186" name="Google Shape;186;p20"/>
          <p:cNvSpPr/>
          <p:nvPr/>
        </p:nvSpPr>
        <p:spPr>
          <a:xfrm>
            <a:off x="1402556" y="6488430"/>
            <a:ext cx="5656421" cy="647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151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Inter"/>
              <a:buNone/>
            </a:pPr>
            <a:r>
              <a:rPr b="0" i="0" lang="en-US" sz="16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Verified create, read, update, and delete functionality for menu and order management</a:t>
            </a:r>
            <a:endParaRPr b="0" i="0" sz="1650" u="none" cap="none" strike="noStrike"/>
          </a:p>
        </p:txBody>
      </p:sp>
      <p:sp>
        <p:nvSpPr>
          <p:cNvPr id="187" name="Google Shape;187;p20"/>
          <p:cNvSpPr/>
          <p:nvPr/>
        </p:nvSpPr>
        <p:spPr>
          <a:xfrm>
            <a:off x="7579043" y="2017752"/>
            <a:ext cx="3564374" cy="3938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53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50"/>
              <a:buFont typeface="Inter"/>
              <a:buNone/>
            </a:pPr>
            <a:r>
              <a:rPr b="1" i="0" lang="en-US" sz="24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Feasibility Assessment</a:t>
            </a:r>
            <a:endParaRPr b="0" i="0" sz="2450" u="none" cap="none" strike="noStrike"/>
          </a:p>
        </p:txBody>
      </p:sp>
      <p:sp>
        <p:nvSpPr>
          <p:cNvPr id="188" name="Google Shape;188;p20"/>
          <p:cNvSpPr/>
          <p:nvPr/>
        </p:nvSpPr>
        <p:spPr>
          <a:xfrm>
            <a:off x="7579043" y="2630448"/>
            <a:ext cx="472678" cy="472678"/>
          </a:xfrm>
          <a:prstGeom prst="roundRect">
            <a:avLst>
              <a:gd fmla="val 18668" name="adj"/>
            </a:avLst>
          </a:prstGeom>
          <a:solidFill>
            <a:srgbClr val="DADBF1"/>
          </a:solidFill>
          <a:ln cap="flat" cmpd="sng" w="9525">
            <a:solidFill>
              <a:srgbClr val="C0C1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20"/>
          <p:cNvSpPr/>
          <p:nvPr/>
        </p:nvSpPr>
        <p:spPr>
          <a:xfrm>
            <a:off x="8246269" y="2702600"/>
            <a:ext cx="2626162" cy="3282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050"/>
              <a:buFont typeface="Inter"/>
              <a:buNone/>
            </a:pPr>
            <a:r>
              <a:rPr b="1" i="0" lang="en-US" sz="20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Technical Feasibility</a:t>
            </a:r>
            <a:endParaRPr b="0" i="0" sz="2050" u="none" cap="none" strike="noStrike"/>
          </a:p>
        </p:txBody>
      </p:sp>
      <p:sp>
        <p:nvSpPr>
          <p:cNvPr id="190" name="Google Shape;190;p20"/>
          <p:cNvSpPr/>
          <p:nvPr/>
        </p:nvSpPr>
        <p:spPr>
          <a:xfrm>
            <a:off x="8246269" y="3225403"/>
            <a:ext cx="5656421" cy="647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151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Inter"/>
              <a:buNone/>
            </a:pPr>
            <a:r>
              <a:rPr b="0" i="0" lang="en-US" sz="16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Confirmed all technologies integrate seamlessly with existing infrastructure and documentation support</a:t>
            </a:r>
            <a:endParaRPr b="0" i="0" sz="1650" u="none" cap="none" strike="noStrike"/>
          </a:p>
        </p:txBody>
      </p:sp>
      <p:sp>
        <p:nvSpPr>
          <p:cNvPr id="191" name="Google Shape;191;p20"/>
          <p:cNvSpPr/>
          <p:nvPr/>
        </p:nvSpPr>
        <p:spPr>
          <a:xfrm>
            <a:off x="7579043" y="4261961"/>
            <a:ext cx="472678" cy="472678"/>
          </a:xfrm>
          <a:prstGeom prst="roundRect">
            <a:avLst>
              <a:gd fmla="val 18668" name="adj"/>
            </a:avLst>
          </a:prstGeom>
          <a:solidFill>
            <a:srgbClr val="DADBF1"/>
          </a:solidFill>
          <a:ln cap="flat" cmpd="sng" w="9525">
            <a:solidFill>
              <a:srgbClr val="C0C1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20"/>
          <p:cNvSpPr/>
          <p:nvPr/>
        </p:nvSpPr>
        <p:spPr>
          <a:xfrm>
            <a:off x="8246269" y="4334113"/>
            <a:ext cx="2641759" cy="3282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050"/>
              <a:buFont typeface="Inter"/>
              <a:buNone/>
            </a:pPr>
            <a:r>
              <a:rPr b="1" i="0" lang="en-US" sz="20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Economic Feasibility</a:t>
            </a:r>
            <a:endParaRPr b="0" i="0" sz="2050" u="none" cap="none" strike="noStrike"/>
          </a:p>
        </p:txBody>
      </p:sp>
      <p:sp>
        <p:nvSpPr>
          <p:cNvPr id="193" name="Google Shape;193;p20"/>
          <p:cNvSpPr/>
          <p:nvPr/>
        </p:nvSpPr>
        <p:spPr>
          <a:xfrm>
            <a:off x="8246269" y="4856917"/>
            <a:ext cx="5656421" cy="647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151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Inter"/>
              <a:buNone/>
            </a:pPr>
            <a:r>
              <a:rPr b="0" i="0" lang="en-US" sz="16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Evaluated cost-effectiveness using modern stack with free-tier services and scalable pricing models</a:t>
            </a:r>
            <a:endParaRPr b="0" i="0" sz="1650" u="none" cap="none" strike="noStrike"/>
          </a:p>
        </p:txBody>
      </p:sp>
      <p:sp>
        <p:nvSpPr>
          <p:cNvPr id="194" name="Google Shape;194;p20"/>
          <p:cNvSpPr/>
          <p:nvPr/>
        </p:nvSpPr>
        <p:spPr>
          <a:xfrm>
            <a:off x="7579043" y="5893475"/>
            <a:ext cx="472678" cy="472678"/>
          </a:xfrm>
          <a:prstGeom prst="roundRect">
            <a:avLst>
              <a:gd fmla="val 18668" name="adj"/>
            </a:avLst>
          </a:prstGeom>
          <a:solidFill>
            <a:srgbClr val="DADBF1"/>
          </a:solidFill>
          <a:ln cap="flat" cmpd="sng" w="9525">
            <a:solidFill>
              <a:srgbClr val="C0C1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20"/>
          <p:cNvSpPr/>
          <p:nvPr/>
        </p:nvSpPr>
        <p:spPr>
          <a:xfrm>
            <a:off x="8246269" y="5965627"/>
            <a:ext cx="2872383" cy="3282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050"/>
              <a:buFont typeface="Inter"/>
              <a:buNone/>
            </a:pPr>
            <a:r>
              <a:rPr b="1" i="0" lang="en-US" sz="20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Operational Feasibility</a:t>
            </a:r>
            <a:endParaRPr b="0" i="0" sz="2050" u="none" cap="none" strike="noStrike"/>
          </a:p>
        </p:txBody>
      </p:sp>
      <p:sp>
        <p:nvSpPr>
          <p:cNvPr id="196" name="Google Shape;196;p20"/>
          <p:cNvSpPr/>
          <p:nvPr/>
        </p:nvSpPr>
        <p:spPr>
          <a:xfrm>
            <a:off x="8246269" y="6488430"/>
            <a:ext cx="5656421" cy="647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151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650"/>
              <a:buFont typeface="Inter"/>
              <a:buNone/>
            </a:pPr>
            <a:r>
              <a:rPr b="0" i="0" lang="en-US" sz="16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Verified user-friendly interface and intuitive workflows meet operational requirements</a:t>
            </a:r>
            <a:endParaRPr b="0" i="0" sz="1650" u="none" cap="none" strike="noStrike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1"/>
          <p:cNvSpPr/>
          <p:nvPr/>
        </p:nvSpPr>
        <p:spPr>
          <a:xfrm>
            <a:off x="793790" y="1515904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50"/>
              <a:buFont typeface="Inter"/>
              <a:buNone/>
            </a:pPr>
            <a:r>
              <a:rPr b="1" i="0" lang="en-US" sz="44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Key Takeaways</a:t>
            </a:r>
            <a:endParaRPr b="0" i="0" sz="4450" u="none" cap="none" strike="noStrike"/>
          </a:p>
        </p:txBody>
      </p:sp>
      <p:sp>
        <p:nvSpPr>
          <p:cNvPr id="203" name="Google Shape;203;p21"/>
          <p:cNvSpPr/>
          <p:nvPr/>
        </p:nvSpPr>
        <p:spPr>
          <a:xfrm>
            <a:off x="793790" y="2678311"/>
            <a:ext cx="4196358" cy="4035385"/>
          </a:xfrm>
          <a:prstGeom prst="roundRect">
            <a:avLst>
              <a:gd fmla="val 2361" name="adj"/>
            </a:avLst>
          </a:prstGeom>
          <a:solidFill>
            <a:srgbClr val="DADBF1"/>
          </a:solidFill>
          <a:ln cap="flat" cmpd="sng" w="9525">
            <a:solidFill>
              <a:srgbClr val="C0C1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21"/>
          <p:cNvSpPr/>
          <p:nvPr/>
        </p:nvSpPr>
        <p:spPr>
          <a:xfrm>
            <a:off x="1028224" y="2912745"/>
            <a:ext cx="680442" cy="680442"/>
          </a:xfrm>
          <a:prstGeom prst="roundRect">
            <a:avLst>
              <a:gd fmla="val 13436980" name="adj"/>
            </a:avLst>
          </a:prstGeom>
          <a:solidFill>
            <a:srgbClr val="4950B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5" name="Google Shape;20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15390" y="3099792"/>
            <a:ext cx="306110" cy="30611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1"/>
          <p:cNvSpPr/>
          <p:nvPr/>
        </p:nvSpPr>
        <p:spPr>
          <a:xfrm>
            <a:off x="1028224" y="3820001"/>
            <a:ext cx="3727490" cy="708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Inter"/>
              <a:buNone/>
            </a:pPr>
            <a:r>
              <a:rPr b="1" i="0" lang="en-US" sz="22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Full Stack Development Expertise</a:t>
            </a:r>
            <a:endParaRPr b="0" i="0" sz="2200" u="none" cap="none" strike="noStrike"/>
          </a:p>
        </p:txBody>
      </p:sp>
      <p:sp>
        <p:nvSpPr>
          <p:cNvPr id="207" name="Google Shape;207;p21"/>
          <p:cNvSpPr/>
          <p:nvPr/>
        </p:nvSpPr>
        <p:spPr>
          <a:xfrm>
            <a:off x="1028224" y="4664750"/>
            <a:ext cx="3727490" cy="18145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Gained comprehensive skills in building end-to-end applications from frontend interfaces to backend services and database management</a:t>
            </a:r>
            <a:endParaRPr b="0" i="0" sz="1750" u="none" cap="none" strike="noStrike"/>
          </a:p>
        </p:txBody>
      </p:sp>
      <p:sp>
        <p:nvSpPr>
          <p:cNvPr id="208" name="Google Shape;208;p21"/>
          <p:cNvSpPr/>
          <p:nvPr/>
        </p:nvSpPr>
        <p:spPr>
          <a:xfrm>
            <a:off x="5216962" y="2678311"/>
            <a:ext cx="4196358" cy="4035385"/>
          </a:xfrm>
          <a:prstGeom prst="roundRect">
            <a:avLst>
              <a:gd fmla="val 2361" name="adj"/>
            </a:avLst>
          </a:prstGeom>
          <a:solidFill>
            <a:srgbClr val="DADBF1"/>
          </a:solidFill>
          <a:ln cap="flat" cmpd="sng" w="9525">
            <a:solidFill>
              <a:srgbClr val="C0C1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21"/>
          <p:cNvSpPr/>
          <p:nvPr/>
        </p:nvSpPr>
        <p:spPr>
          <a:xfrm>
            <a:off x="5451396" y="2912745"/>
            <a:ext cx="680442" cy="680442"/>
          </a:xfrm>
          <a:prstGeom prst="roundRect">
            <a:avLst>
              <a:gd fmla="val 13436980" name="adj"/>
            </a:avLst>
          </a:prstGeom>
          <a:solidFill>
            <a:srgbClr val="4950B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0" name="Google Shape;21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38562" y="3099792"/>
            <a:ext cx="306110" cy="30611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1"/>
          <p:cNvSpPr/>
          <p:nvPr/>
        </p:nvSpPr>
        <p:spPr>
          <a:xfrm>
            <a:off x="5451396" y="3820001"/>
            <a:ext cx="3178493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Inter"/>
              <a:buNone/>
            </a:pPr>
            <a:r>
              <a:rPr b="1" i="0" lang="en-US" sz="22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REST API Development</a:t>
            </a:r>
            <a:endParaRPr b="0" i="0" sz="2200" u="none" cap="none" strike="noStrike"/>
          </a:p>
        </p:txBody>
      </p:sp>
      <p:sp>
        <p:nvSpPr>
          <p:cNvPr id="212" name="Google Shape;212;p21"/>
          <p:cNvSpPr/>
          <p:nvPr/>
        </p:nvSpPr>
        <p:spPr>
          <a:xfrm>
            <a:off x="5451396" y="4310420"/>
            <a:ext cx="3727490" cy="18145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Mastered creating RESTful endpoints, request handling, response formatting, and implementing proper HTTP status codes and error handling</a:t>
            </a:r>
            <a:endParaRPr b="0" i="0" sz="1750" u="none" cap="none" strike="noStrike"/>
          </a:p>
        </p:txBody>
      </p:sp>
      <p:sp>
        <p:nvSpPr>
          <p:cNvPr id="213" name="Google Shape;213;p21"/>
          <p:cNvSpPr/>
          <p:nvPr/>
        </p:nvSpPr>
        <p:spPr>
          <a:xfrm>
            <a:off x="9640133" y="2678311"/>
            <a:ext cx="4196358" cy="4035385"/>
          </a:xfrm>
          <a:prstGeom prst="roundRect">
            <a:avLst>
              <a:gd fmla="val 2361" name="adj"/>
            </a:avLst>
          </a:prstGeom>
          <a:solidFill>
            <a:srgbClr val="DADBF1"/>
          </a:solidFill>
          <a:ln cap="flat" cmpd="sng" w="9525">
            <a:solidFill>
              <a:srgbClr val="C0C1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21"/>
          <p:cNvSpPr/>
          <p:nvPr/>
        </p:nvSpPr>
        <p:spPr>
          <a:xfrm>
            <a:off x="9874568" y="2912745"/>
            <a:ext cx="680442" cy="680442"/>
          </a:xfrm>
          <a:prstGeom prst="roundRect">
            <a:avLst>
              <a:gd fmla="val 13436980" name="adj"/>
            </a:avLst>
          </a:prstGeom>
          <a:solidFill>
            <a:srgbClr val="4950B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5" name="Google Shape;21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61734" y="3099792"/>
            <a:ext cx="306110" cy="30611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1"/>
          <p:cNvSpPr/>
          <p:nvPr/>
        </p:nvSpPr>
        <p:spPr>
          <a:xfrm>
            <a:off x="9874568" y="3820001"/>
            <a:ext cx="3337084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Inter"/>
              <a:buNone/>
            </a:pPr>
            <a:r>
              <a:rPr b="1" i="0" lang="en-US" sz="220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End-to-End Deployment</a:t>
            </a:r>
            <a:endParaRPr b="0" i="0" sz="2200" u="none" cap="none" strike="noStrike"/>
          </a:p>
        </p:txBody>
      </p:sp>
      <p:sp>
        <p:nvSpPr>
          <p:cNvPr id="217" name="Google Shape;217;p21"/>
          <p:cNvSpPr/>
          <p:nvPr/>
        </p:nvSpPr>
        <p:spPr>
          <a:xfrm>
            <a:off x="9874568" y="4310420"/>
            <a:ext cx="3727490" cy="18145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Successfully deployed complete application to production environment, managing configuration, environment variables, and domain setup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23" name="Google Shape;22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2"/>
          <p:cNvSpPr/>
          <p:nvPr/>
        </p:nvSpPr>
        <p:spPr>
          <a:xfrm>
            <a:off x="793790" y="1084064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50"/>
              <a:buFont typeface="Inter"/>
              <a:buNone/>
            </a:pPr>
            <a:r>
              <a:rPr b="1" i="0" lang="en-US" sz="44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Project Conclusion</a:t>
            </a:r>
            <a:endParaRPr b="0" i="0" sz="4450" u="none" cap="none" strike="noStrike"/>
          </a:p>
        </p:txBody>
      </p:sp>
      <p:sp>
        <p:nvSpPr>
          <p:cNvPr id="225" name="Google Shape;225;p22"/>
          <p:cNvSpPr/>
          <p:nvPr/>
        </p:nvSpPr>
        <p:spPr>
          <a:xfrm>
            <a:off x="793790" y="2133005"/>
            <a:ext cx="7556421" cy="21774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FoodieHub demonstrates the complete development lifecycle of a modern web application, from initial concept to production deployment. The platform successfully addresses real-world challenges in food ordering systems while providing valuable learning experiences in full-stack development, API design, and system architecture.</a:t>
            </a:r>
            <a:endParaRPr b="0" i="0" sz="1750" u="none" cap="none" strike="noStrike"/>
          </a:p>
        </p:txBody>
      </p:sp>
      <p:sp>
        <p:nvSpPr>
          <p:cNvPr id="226" name="Google Shape;226;p22"/>
          <p:cNvSpPr/>
          <p:nvPr/>
        </p:nvSpPr>
        <p:spPr>
          <a:xfrm>
            <a:off x="793790" y="4565571"/>
            <a:ext cx="7556421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This project showcases practical application of modern web technologies and software engineering principles, preparing for industry challenges while delivering a functional, scalable solution.</a:t>
            </a:r>
            <a:endParaRPr b="0" i="0" sz="1750" u="none" cap="none" strike="noStrike"/>
          </a:p>
        </p:txBody>
      </p:sp>
      <p:sp>
        <p:nvSpPr>
          <p:cNvPr id="227" name="Google Shape;227;p22"/>
          <p:cNvSpPr/>
          <p:nvPr/>
        </p:nvSpPr>
        <p:spPr>
          <a:xfrm>
            <a:off x="1133951" y="6164580"/>
            <a:ext cx="7216259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b="1" i="0" lang="en-US" sz="1750" u="none" cap="none" strike="noStrik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Thank you for your attention. Questions and feedback are welcome.</a:t>
            </a:r>
            <a:endParaRPr b="0" i="0" sz="1750" u="none" cap="none" strike="noStrike"/>
          </a:p>
        </p:txBody>
      </p:sp>
      <p:sp>
        <p:nvSpPr>
          <p:cNvPr id="228" name="Google Shape;228;p22"/>
          <p:cNvSpPr/>
          <p:nvPr/>
        </p:nvSpPr>
        <p:spPr>
          <a:xfrm>
            <a:off x="793790" y="5909429"/>
            <a:ext cx="30480" cy="1236107"/>
          </a:xfrm>
          <a:prstGeom prst="rect">
            <a:avLst/>
          </a:prstGeom>
          <a:solidFill>
            <a:srgbClr val="4950B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